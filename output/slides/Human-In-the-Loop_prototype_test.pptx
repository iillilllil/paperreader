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Human-In-the-Loop Software Development Agents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2C3E50"/>
                </a:solidFill>
              </a:defRPr>
            </a:pPr>
            <a:r>
              <a:t>Outline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Background &amp; Problem</a:t>
            </a:r>
          </a:p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Key Insights</a:t>
            </a:r>
          </a:p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Method &amp; Technical Details</a:t>
            </a:r>
          </a:p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Experiments &amp; Results</a:t>
            </a:r>
          </a:p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Analysis &amp; Discussion</a:t>
            </a:r>
          </a:p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Conclusion &amp;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2C3E50"/>
                </a:solidFill>
              </a:defRPr>
            </a:pPr>
            <a:r>
              <a:t>Research 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Large Language Models (LLMs) have recently</a:t>
            </a:r>
          </a:p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Existing frameworks such as SWE-agent and</a:t>
            </a:r>
          </a:p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g</a:t>
            </a:r>
          </a:p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, engineers, testers) to interact with</a:t>
            </a:r>
          </a:p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However, the state of the field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2C3E50"/>
                </a:solidFill>
              </a:defRPr>
            </a:pPr>
            <a:r>
              <a:t>Research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The core problem is the limitations</a:t>
            </a:r>
          </a:p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Specifically, existing work: (1) relies on</a:t>
            </a:r>
          </a:p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The paper addresses the challenge of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2C3E50"/>
                </a:solidFill>
              </a:defRPr>
            </a:pPr>
            <a:r>
              <a:t>Key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💡 Agile-driven organizations often use brief issue descriptions (user stories) rather than the detailed documentation found in open-source projects, necessitating agents that can handle sparse context or prompt users for detail.</a:t>
            </a:r>
          </a:p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💡 Human feedback is not just for verification but for context enrichment; allowing engineers to edit plans significantly improves the alignment of generated code with intent.</a:t>
            </a:r>
          </a:p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💡 A 'Decentralized Planning Decentralized Execution' (DPDE) paradigm is more efficient than centralized control, reducing computational overhead while allowing agents to adapt to human feedback.</a:t>
            </a:r>
          </a:p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💡 User perception of success is tied more to 'reduction of initial development effort' and 'ease of modification' than to the agent generating a perfect, hands-off solution.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2C3E50"/>
                </a:solidFill>
              </a:defRPr>
            </a:pPr>
            <a:r>
              <a:t>Method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The paper introduces HULA (Human-in-the-Loop LLM-based</a:t>
            </a:r>
          </a:p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Unlike fully autonomous systems, HULA exploits</a:t>
            </a:r>
          </a:p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The process involves four stages: Setting</a:t>
            </a:r>
          </a:p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The framework is designed to prioritize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2C3E50"/>
                </a:solidFill>
              </a:defRPr>
            </a:pPr>
            <a:r>
              <a:t>Technical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Human-in-the-Loop Integration: A specific workflow design that mandates human review and modification capabilities at both the planning and coding stages, differing from 'correction-only' approaches.</a:t>
            </a:r>
          </a:p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Multi-Stage Evaluation Framework: A comprehensive methodology combining offline benchmarking (SWE-bench), online deployment (2,600+ users), and user surveys to capture both technical efficacy and human perception.</a:t>
            </a:r>
          </a:p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LLM-as-a-Judge for Similarity: Addressing the limitations of BERTScore (512 token limit), the authors use GPT-4 to evaluate code similarity between generated code and ground truth for large enterprise files (median 1,275 tokens).</a:t>
            </a:r>
          </a:p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DPDE Agent Coordination: Utilizing Decentralized Planning Decentralized Execution to minimize communication overhead and central LLM computational load while maximizing adaptability to human input.</a:t>
            </a:r>
          </a:p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Industrial Deployment: The actual implementation and scaling of the framework within Atlassian's internal production environment (JIRA + BitBucket).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2C3E50"/>
                </a:solidFill>
              </a:defRPr>
            </a:pPr>
            <a:r>
              <a:t>Experimental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The evaluation was conducted in three</a:t>
            </a:r>
          </a:p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(1) Offline Evaluation: HULA ran on</a:t>
            </a:r>
          </a:p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(2) Online Deployment: HULA was deployed</a:t>
            </a:r>
          </a:p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Usage data was tracked for 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2C3E50"/>
                </a:solidFill>
              </a:defRPr>
            </a:pPr>
            <a:r>
              <a:t>Main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🔥 **RQ1 (Offline - SWE-bench): HULA achieved 97% Success Generation Rate, 86% Recall for File Localization, 84% Perfect File Localization, 31% Pass@1 (Passing Test Cases), and 45% High Code Similarity.**</a:t>
            </a:r>
          </a:p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🔥 **RQ1 (Offline - Internal Dataset): Performance dropped significantly: 100% Success Generation, but only 30% Recall for File Localization and 30% High Code Similarity. This highlights the difficulty of enterprise tasks with brief descriptions.**</a:t>
            </a:r>
          </a:p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🔥 **RQ2 (Online - Adoption): 82% Plan Approval Rate (433/527 issues). Engineers approved the AI's plan in the vast majority of cases.**</a:t>
            </a:r>
          </a:p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🔥 **RQ2 (Online - Code): 25% Raised PR Rate (95/376 issues). Engineers felt confident enough to raise a PR for a quarter of the generated code.**</a:t>
            </a:r>
          </a:p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🔥 **RQ2 (Online - Impact): 59% Merged PR Rate (56/95 PRs). More than half of the raised PRs were merged into the codebase.**</a:t>
            </a:r>
          </a:p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🔥 **RQ3 (Survey - File Localization): 71% agreed identified files were relevant; 62% agreed they aligned with their own approach.**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2C3E50"/>
                </a:solidFill>
              </a:defRPr>
            </a:pPr>
            <a:r>
              <a:t>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HULA demonstrates that LLM-based agents are</a:t>
            </a:r>
          </a:p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However, the online evaluation reveals that</a:t>
            </a:r>
          </a:p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High approval rates for plans (82%)</a:t>
            </a:r>
          </a:p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The 59% merge rate for raised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2C3E50"/>
                </a:solidFill>
              </a:defRPr>
            </a:pPr>
            <a:r>
              <a:t>Advantages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Human-AI Synergy: By allowing intervention at planning and coding stages, HULA avoids the 'black box' problem of autonomous agents, ensuring the output matches engineer intent.</a:t>
            </a:r>
          </a:p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Production Integration: Seamlessly integrated into JIRA and BitBucket, fitting naturally into the existing workflow of 2,600+ Atlassian engineers.</a:t>
            </a:r>
          </a:p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High Plan Accuracy: Achieved 82% plan approval rate, indicating strong capability in understanding requirements and identifying relevant files.</a:t>
            </a:r>
          </a:p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Code Readability: 61% of engineers found the code easy to modify, reducing the 'blank page' friction of starting new tasks.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2C3E50"/>
                </a:solidFill>
              </a:defRPr>
            </a:pPr>
            <a:r>
              <a:t>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Input Dependency: The framework's effectiveness is heavily dependent on the quality and detail of the input JIRA issue description; brief 'Agile-style' stories degrade performance.</a:t>
            </a:r>
          </a:p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Code Completeness: The agent struggles with non-functional requirements and complex logic; 67% of engineers felt the code did not completely solve the task without human edits.</a:t>
            </a:r>
          </a:p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Context Awareness: Limited awareness of external dependencies or broader architectural context often led to incomplete code changes.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2C3E50"/>
                </a:solidFill>
              </a:defRPr>
            </a:pPr>
            <a:r>
              <a:t>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Context Augmentation: Investigate methods to automatically enrich input context (e.g., using type definitions, design patterns, or historical solutions) to reduce the burden on engineers to write detailed prompts.</a:t>
            </a:r>
          </a:p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Advanced Evaluation Metrics: Develop evaluation frameworks that go beyond 'passing tests' to measure technical debt, maintainability, and the effort required to fix generated code.</a:t>
            </a:r>
          </a:p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Workflow Flexibility: Improve the UI/UX to allow non-linear workflows, enabling engineers to revisit the planning stage during coding if requirements change.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2C3E50"/>
                </a:solidFill>
              </a:defRPr>
            </a:pPr>
            <a:r>
              <a:t>Figure 1</a:t>
            </a:r>
          </a:p>
        </p:txBody>
      </p:sp>
      <p:pic>
        <p:nvPicPr>
          <p:cNvPr id="3" name="Picture 2" descr="Human-In-the-Loop_figur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2C3E50"/>
                </a:solidFill>
              </a:defRPr>
            </a:pPr>
            <a:r>
              <a:t>Figure 2</a:t>
            </a:r>
          </a:p>
        </p:txBody>
      </p:sp>
      <p:pic>
        <p:nvPicPr>
          <p:cNvPr id="3" name="Picture 2" descr="Human-In-the-Loop_figur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2C3E50"/>
                </a:solidFill>
              </a:defRPr>
            </a:pPr>
            <a:r>
              <a:t>Figure 3</a:t>
            </a:r>
          </a:p>
        </p:txBody>
      </p:sp>
      <p:pic>
        <p:nvPicPr>
          <p:cNvPr id="3" name="Picture 2" descr="Human-In-the-Loop_figur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2C3E50"/>
                </a:solidFill>
              </a:defRPr>
            </a:pPr>
            <a:r>
              <a:t>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Thank you</a:t>
            </a:r>
          </a:p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